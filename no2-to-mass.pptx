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780E-12C1-41B9-A3F9-2F9CE2911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14BD3-5467-4A7B-B697-EBC7797BD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1D8DC-E44B-471D-92FE-6BE2D192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F945C-6C94-4BDA-B512-7517039C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F3615-DE74-4BFB-BFCF-3A083FE8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3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5287-5E5E-410F-BC27-27F6C513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81B06-EFB7-4F96-92D0-074020332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2E258-2AE3-432B-A280-E4BB80AA0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B9831-2ABE-4A0C-B141-A68155324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04570-F3C6-46C0-9A1E-558DCCC2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0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8B7B-7A8E-43B0-BE81-DAF935081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404B4-E4F6-4027-8A82-C7BA2D4B2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738C8-03CC-4206-BEA0-C7F11B96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48379-C4ED-4F76-9AF9-43174EF9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31724-82B3-4BBC-8AD9-996F6C34E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3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2755-8432-42B3-8681-82B103D2F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B162B-B4E3-4810-89CB-A4BBE9827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4372F-89C2-4AC9-A20F-DDCF11F67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559A8-CB9F-446F-A27D-D52F4843B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BAEB3-04DB-4A09-8FB0-C32AA652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14123-5EF6-435A-872B-B4CB1022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3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40E4-5223-4D4F-85F3-7EF6BD3DD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0F9CE-D3E1-4861-A0B5-3C1E040B8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323CD-61E8-4EA7-BD8B-DA2783349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DB7B9-B297-4A3B-B8D8-F401143C0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5C729-AA11-4236-8110-43EF8AB2A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3D1EE-11FD-4DE6-8A4B-ACAA0A02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3E84D-94B9-4EBD-B804-023292F0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528D9-F52B-48F2-8259-61B4DFAF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08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0F20-760C-44F9-ABCE-CB84D9A5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D788F3-07B1-4492-A231-74CBBABE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5834B7-4527-4FE8-B5AD-88F17F81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97E9B-08F2-41E6-BB6C-465554DA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E0BE26-C712-4DF0-9821-6A0A65C6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49FDD-252E-42BF-B5D5-DB82FBAA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164AA-EE08-4935-A642-EAFF8FD7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8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5BF9-F989-44F5-AC20-19F1529A5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F245C-12DE-4117-B603-47DA3DC92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91700-1D9D-462B-BA3B-F37AC2641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7BBBA-62DF-4B8D-AF75-DAB4D5BE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D086B-441B-4FE4-AC01-EA5F8A31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CFA91-B566-4B96-B585-1B448ED8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0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9A91-7B0A-4D64-849E-BE0EE413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1C56F-3F83-4874-AE55-152E093F4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B8488-4FB6-4CB8-B06E-FE968DAAB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ACF7A-7BCB-43C3-866B-448BED51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67EF2-68E4-42D3-9AE5-2E86AB35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4D53A-D17E-4328-8A06-FE17308F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EDAF-762A-40B2-A23C-DF7D99D2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D3CE7-2C76-40EA-8D47-565902C19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22056-8F1C-4F37-B0CF-E8A7A03A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ED163-3AE1-4316-BA2B-58A52315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11EF9-5331-44CE-8517-BCBE7EE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3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21EEE-6A5A-473A-AC71-3B852A573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5EC21-66AD-4461-A158-DC4B14D1A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7A4E6-2BF7-4D83-8D8F-0DEFDCA4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B1DB3-F1F6-48DA-A751-5DA15C5B5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DE18F-2F98-4F84-BB0D-18830021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9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D1F46D-F349-4020-B7E6-C4526694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6689B-7304-4080-BC89-3300974FA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517DB-355D-4B89-85AF-DFE84A4FE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58F7B-44C4-49E1-9878-D93021513BA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DD181-FE82-487B-9271-30D94F27A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0FA9E-2A01-42C7-BE87-0E81D675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C3E59-69CB-43E2-A867-05706BF4B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02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747811-B1B3-4D84-ADCE-576C72B0D4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00" r="5778" b="957"/>
          <a:stretch/>
        </p:blipFill>
        <p:spPr>
          <a:xfrm>
            <a:off x="1031351" y="755374"/>
            <a:ext cx="10129297" cy="59833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052D3-261D-4DB6-906F-7EBB972A809E}"/>
              </a:ext>
            </a:extLst>
          </p:cNvPr>
          <p:cNvSpPr txBox="1"/>
          <p:nvPr/>
        </p:nvSpPr>
        <p:spPr>
          <a:xfrm>
            <a:off x="540689" y="119270"/>
            <a:ext cx="716412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/>
              <a:t>Where are the max and weakest positive cells?</a:t>
            </a:r>
          </a:p>
        </p:txBody>
      </p:sp>
    </p:spTree>
    <p:extLst>
      <p:ext uri="{BB962C8B-B14F-4D97-AF65-F5344CB8AC3E}">
        <p14:creationId xmlns:p14="http://schemas.microsoft.com/office/powerpoint/2010/main" val="189022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61D159-B5BC-44F8-9B3E-4D6BAA6CB85E}"/>
              </a:ext>
            </a:extLst>
          </p:cNvPr>
          <p:cNvSpPr txBox="1"/>
          <p:nvPr/>
        </p:nvSpPr>
        <p:spPr>
          <a:xfrm>
            <a:off x="540689" y="119270"/>
            <a:ext cx="716412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/>
              <a:t>Final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A93F4E-9673-43E3-800D-C316999CD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52153" y="880050"/>
            <a:ext cx="7887693" cy="557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8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61D159-B5BC-44F8-9B3E-4D6BAA6CB85E}"/>
              </a:ext>
            </a:extLst>
          </p:cNvPr>
          <p:cNvSpPr txBox="1"/>
          <p:nvPr/>
        </p:nvSpPr>
        <p:spPr>
          <a:xfrm>
            <a:off x="540689" y="119270"/>
            <a:ext cx="716412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/>
              <a:t>Column to Mass conversion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643D44-4342-420D-B554-D8F1054689CB}"/>
              </a:ext>
            </a:extLst>
          </p:cNvPr>
          <p:cNvSpPr txBox="1"/>
          <p:nvPr/>
        </p:nvSpPr>
        <p:spPr>
          <a:xfrm>
            <a:off x="540689" y="664826"/>
            <a:ext cx="11529391" cy="184665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600" b="1" i="1" u="sng" dirty="0"/>
              <a:t>Pixel Area</a:t>
            </a:r>
          </a:p>
          <a:p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Tempo ground pixel at the center measures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2.0 km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 (north-south) and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4.75 km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(east-west)</a:t>
            </a: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Approx. pixel area at the center </a:t>
            </a:r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</a:rPr>
              <a:t>A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 = 2.00 km × 4.75 km  =  9.50 km²  =  9.50×10⁶ m² =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9.50×10¹⁰ cm²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Tempo ground pixel after reprojecting to study area EPSG:32611 measures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3.2184 km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(north-south) and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3.2182 km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(east-west)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Approx. pixel area after reprojection </a:t>
            </a:r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</a:rPr>
              <a:t>A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(reprojected)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= 3218.37 m × 3218.19 m  =  10,357,338.56  m² = 1.04×10⁷  m² =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1.0357×10¹¹  cm²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84A1D-6774-4726-BB13-355E9CBFD161}"/>
              </a:ext>
            </a:extLst>
          </p:cNvPr>
          <p:cNvSpPr txBox="1"/>
          <p:nvPr/>
        </p:nvSpPr>
        <p:spPr>
          <a:xfrm>
            <a:off x="540688" y="2595376"/>
            <a:ext cx="11529391" cy="206210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600" b="1" i="1" u="sng" dirty="0"/>
              <a:t>Plume Column</a:t>
            </a:r>
          </a:p>
          <a:p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l-GR" sz="1600" dirty="0">
                <a:solidFill>
                  <a:schemeClr val="accent2">
                    <a:lumMod val="75000"/>
                  </a:schemeClr>
                </a:solidFill>
              </a:rPr>
              <a:t>σ =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fₚ · </a:t>
            </a:r>
            <a:r>
              <a:rPr lang="el-GR" sz="1600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VCD  (molecules/cm²)</a:t>
            </a:r>
          </a:p>
          <a:p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where: </a:t>
            </a:r>
          </a:p>
          <a:p>
            <a:r>
              <a:rPr lang="el-GR" sz="1600" dirty="0">
                <a:solidFill>
                  <a:schemeClr val="accent2">
                    <a:lumMod val="75000"/>
                  </a:schemeClr>
                </a:solidFill>
              </a:rPr>
              <a:t>σ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is plume column (same kind of field as TEMPO VCD)</a:t>
            </a:r>
            <a:br>
              <a:rPr lang="en-US" sz="16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fₚ is Planet plume mask in that TEMPO cell (0…1)</a:t>
            </a:r>
            <a:br>
              <a:rPr lang="en-US" sz="16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l-GR" sz="1600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VCD is VCD  −  VCD</a:t>
            </a:r>
            <a:r>
              <a:rPr lang="en-US" sz="1600" baseline="-25000" dirty="0">
                <a:solidFill>
                  <a:schemeClr val="accent2">
                    <a:lumMod val="75000"/>
                  </a:schemeClr>
                </a:solidFill>
              </a:rPr>
              <a:t>bg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(excess column after local background)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1DE7BF-FA00-4B40-9B0B-52674515334A}"/>
                  </a:ext>
                </a:extLst>
              </p:cNvPr>
              <p:cNvSpPr txBox="1"/>
              <p:nvPr/>
            </p:nvSpPr>
            <p:spPr>
              <a:xfrm>
                <a:off x="540688" y="4788306"/>
                <a:ext cx="11529391" cy="196823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600" b="1" i="1" u="sng" dirty="0"/>
                  <a:t>Mass in kilograms</a:t>
                </a:r>
              </a:p>
              <a:p>
                <a:endParaRPr lang="en-US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it-IT" sz="1600" dirty="0">
                    <a:solidFill>
                      <a:srgbClr val="7030A0"/>
                    </a:solidFill>
                  </a:rPr>
                  <a:t>Mass in kilograms (kg)  = moles x M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l-GR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 ·  </m:t>
                        </m:r>
                        <m:r>
                          <a:rPr lang="el-GR" sz="16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16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it-IT" sz="16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it-IT" sz="16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  <m:r>
                          <a:rPr lang="it-IT" sz="16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it-IT" sz="16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𝒄𝒎</m:t>
                        </m:r>
                        <m:r>
                          <a:rPr lang="it-IT" sz="16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²)</m:t>
                        </m:r>
                      </m:num>
                      <m:den>
                        <m:r>
                          <a:rPr lang="it-IT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it-IT" sz="1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ₐ</m:t>
                        </m:r>
                      </m:den>
                    </m:f>
                  </m:oMath>
                </a14:m>
                <a:r>
                  <a:rPr lang="it-IT" sz="16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16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𝑁𝑂</m:t>
                    </m:r>
                    <m:r>
                      <a:rPr lang="en-US" sz="16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₂)</m:t>
                    </m:r>
                  </m:oMath>
                </a14:m>
                <a:endParaRPr lang="it-IT" sz="1600" dirty="0">
                  <a:solidFill>
                    <a:srgbClr val="7030A0"/>
                  </a:solidFill>
                </a:endParaRPr>
              </a:p>
              <a:p>
                <a:endParaRPr lang="en-US" sz="1600" dirty="0">
                  <a:solidFill>
                    <a:srgbClr val="7030A0"/>
                  </a:solidFill>
                </a:endParaRP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where:</a:t>
                </a:r>
              </a:p>
              <a:p>
                <a:r>
                  <a:rPr lang="en-US" sz="1600" b="1" i="1" dirty="0">
                    <a:solidFill>
                      <a:srgbClr val="7030A0"/>
                    </a:solidFill>
                  </a:rPr>
                  <a:t>Nₐ </a:t>
                </a:r>
                <a:r>
                  <a:rPr lang="en-US" sz="1600" dirty="0">
                    <a:solidFill>
                      <a:srgbClr val="7030A0"/>
                    </a:solidFill>
                  </a:rPr>
                  <a:t>= Avogadro's number = 6.02214076×10²³ mol⁻¹</a:t>
                </a:r>
                <a:br>
                  <a:rPr lang="en-US" sz="1600" dirty="0">
                    <a:solidFill>
                      <a:srgbClr val="7030A0"/>
                    </a:solidFill>
                  </a:rPr>
                </a:br>
                <a:r>
                  <a:rPr lang="en-US" sz="1600" b="1" i="1" dirty="0">
                    <a:solidFill>
                      <a:srgbClr val="7030A0"/>
                    </a:solidFill>
                  </a:rPr>
                  <a:t>M(NO₂)</a:t>
                </a:r>
                <a:r>
                  <a:rPr lang="en-US" sz="1600" dirty="0">
                    <a:solidFill>
                      <a:srgbClr val="7030A0"/>
                    </a:solidFill>
                  </a:rPr>
                  <a:t> = molar mass of </a:t>
                </a:r>
                <a:r>
                  <a:rPr lang="en-US" sz="1600" b="1" i="1" dirty="0">
                    <a:solidFill>
                      <a:srgbClr val="7030A0"/>
                    </a:solidFill>
                  </a:rPr>
                  <a:t>NO₂ </a:t>
                </a:r>
                <a:r>
                  <a:rPr lang="en-US" sz="1600" dirty="0">
                    <a:solidFill>
                      <a:srgbClr val="7030A0"/>
                    </a:solidFill>
                  </a:rPr>
                  <a:t>= 0.0460055 kg·mol⁻¹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1DE7BF-FA00-4B40-9B0B-526745153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88" y="4788306"/>
                <a:ext cx="11529391" cy="1968231"/>
              </a:xfrm>
              <a:prstGeom prst="rect">
                <a:avLst/>
              </a:prstGeom>
              <a:blipFill>
                <a:blip r:embed="rId2"/>
                <a:stretch>
                  <a:fillRect l="-317" t="-309" b="-3395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268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217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Eaturu</dc:creator>
  <cp:lastModifiedBy>Aditya Eaturu</cp:lastModifiedBy>
  <cp:revision>15</cp:revision>
  <dcterms:created xsi:type="dcterms:W3CDTF">2026-04-22T14:48:07Z</dcterms:created>
  <dcterms:modified xsi:type="dcterms:W3CDTF">2026-04-27T16:41:51Z</dcterms:modified>
</cp:coreProperties>
</file>