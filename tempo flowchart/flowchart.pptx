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96" d="100"/>
          <a:sy n="96" d="100"/>
        </p:scale>
        <p:origin x="16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0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2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58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0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4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1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3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5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4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10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3052D-FAE2-4138-BD06-2CAD8BD0D0F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0911D-74EE-415C-B2AD-AD149241E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0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A8B672-13C3-445C-A97C-ED4ED91770F7}"/>
              </a:ext>
            </a:extLst>
          </p:cNvPr>
          <p:cNvSpPr/>
          <p:nvPr/>
        </p:nvSpPr>
        <p:spPr>
          <a:xfrm>
            <a:off x="1590303" y="875448"/>
            <a:ext cx="3677393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2025-01-09, Palisades–Eaton, 8 mosaiced PlanetScope scenes</a:t>
            </a:r>
            <a:br>
              <a:rPr lang="en-US" sz="900" dirty="0"/>
            </a:br>
            <a:r>
              <a:rPr lang="en-US" sz="9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TEMPO and Planet ≈ 10:50 Pacific; offset 1 min 10 s</a:t>
            </a:r>
            <a:endParaRPr lang="en-US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A138F0-7F01-4B06-98BB-201E40513443}"/>
              </a:ext>
            </a:extLst>
          </p:cNvPr>
          <p:cNvSpPr/>
          <p:nvPr/>
        </p:nvSpPr>
        <p:spPr>
          <a:xfrm>
            <a:off x="735290" y="2330177"/>
            <a:ext cx="2073897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1a · TEMPO L2</a:t>
            </a:r>
            <a:br>
              <a:rPr lang="en-US" sz="1000" dirty="0"/>
            </a:br>
            <a:r>
              <a:rPr lang="en-US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SCD, VCDtrop, QA, eff_cloud, 3D Wk, gas_profile, T (72)</a:t>
            </a:r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E37D7-388A-47D5-846B-7495B52C91D0}"/>
              </a:ext>
            </a:extLst>
          </p:cNvPr>
          <p:cNvSpPr/>
          <p:nvPr/>
        </p:nvSpPr>
        <p:spPr>
          <a:xfrm>
            <a:off x="735290" y="3289425"/>
            <a:ext cx="2073897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1c · UTM 11N (meters)</a:t>
            </a:r>
            <a:br>
              <a:rPr lang="en-US" sz="1000" dirty="0"/>
            </a:br>
            <a:r>
              <a:rPr lang="en-US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AOI subset, gdalwarp / regrid, EPSG:32611</a:t>
            </a:r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01FB3-6602-4E0F-9DF7-B073F0815918}"/>
              </a:ext>
            </a:extLst>
          </p:cNvPr>
          <p:cNvSpPr/>
          <p:nvPr/>
        </p:nvSpPr>
        <p:spPr>
          <a:xfrm>
            <a:off x="735290" y="4241441"/>
            <a:ext cx="2073897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1d · Quality screen (TEMPO)</a:t>
            </a:r>
            <a:br>
              <a:rPr lang="en-US" sz="1000" dirty="0"/>
            </a:br>
            <a:r>
              <a:rPr lang="en-US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QA; eff_cloud_fraction &lt; 0.3; finite VCDtrop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82842-5D92-4713-AC83-30876333438F}"/>
              </a:ext>
            </a:extLst>
          </p:cNvPr>
          <p:cNvSpPr/>
          <p:nvPr/>
        </p:nvSpPr>
        <p:spPr>
          <a:xfrm>
            <a:off x="4230748" y="2330176"/>
            <a:ext cx="2073896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1b · Planet + plume mask</a:t>
            </a:r>
            <a:br>
              <a:rPr lang="en-US" sz="800" dirty="0"/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Same-day 8-scene mosaic; plume hand-drawn &amp; digitized on HR basemap</a:t>
            </a:r>
            <a:endParaRPr lang="en-US" sz="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B01BC-FC64-43D2-9FDB-DB7A18F49927}"/>
              </a:ext>
            </a:extLst>
          </p:cNvPr>
          <p:cNvSpPr/>
          <p:nvPr/>
        </p:nvSpPr>
        <p:spPr>
          <a:xfrm>
            <a:off x="4230749" y="3287426"/>
            <a:ext cx="2073896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1c · Zonal to TEMPO cells</a:t>
            </a:r>
            <a:br>
              <a:rPr lang="en-US" sz="800" dirty="0"/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Plume raster; area-integrate to each TEMPO cell</a:t>
            </a:r>
            <a:endParaRPr lang="en-US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5C2BA-40A1-44E5-826C-5285958B681B}"/>
              </a:ext>
            </a:extLst>
          </p:cNvPr>
          <p:cNvSpPr/>
          <p:nvPr/>
        </p:nvSpPr>
        <p:spPr>
          <a:xfrm>
            <a:off x="4230747" y="4244676"/>
            <a:ext cx="2073897" cy="498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1d · Plume fraction fp</a:t>
            </a:r>
            <a:br>
              <a:rPr lang="en-US" sz="1000" dirty="0"/>
            </a:br>
            <a:r>
              <a:rPr lang="en-US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fp in [0,1] plume area per TEMPO cell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D4DE42-EF77-4084-A30B-7FC814F0115C}"/>
              </a:ext>
            </a:extLst>
          </p:cNvPr>
          <p:cNvSpPr/>
          <p:nvPr/>
        </p:nvSpPr>
        <p:spPr>
          <a:xfrm>
            <a:off x="2133600" y="5201926"/>
            <a:ext cx="2590800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 · Merge (same TEMPO grid + cells)</a:t>
            </a:r>
            <a:br>
              <a:rPr lang="en-US" sz="1050" dirty="0"/>
            </a:br>
            <a:r>
              <a:rPr lang="en-US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Screened L2 stack + fp for plume apportionment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9B944-D940-4CED-84FC-3FF6ED99D27C}"/>
              </a:ext>
            </a:extLst>
          </p:cNvPr>
          <p:cNvSpPr/>
          <p:nvPr/>
        </p:nvSpPr>
        <p:spPr>
          <a:xfrm>
            <a:off x="2133599" y="6231058"/>
            <a:ext cx="2590800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3a · AMFtrop (ATBD)</a:t>
            </a:r>
            <a:br>
              <a:rPr lang="en-US" sz="1100" dirty="0"/>
            </a:br>
            <a:r>
              <a:rPr lang="en-US" sz="11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From 3D Wk, Sk(nk), ck(T) on L2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7F3F1-1808-4584-9665-4E01617F0729}"/>
              </a:ext>
            </a:extLst>
          </p:cNvPr>
          <p:cNvSpPr/>
          <p:nvPr/>
        </p:nvSpPr>
        <p:spPr>
          <a:xfrm>
            <a:off x="2133599" y="7294894"/>
            <a:ext cx="2590800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3b · VCDcheck = SCD / AMFtrop</a:t>
            </a:r>
            <a:br>
              <a:rPr lang="en-US" sz="1100" dirty="0"/>
            </a:br>
            <a:r>
              <a:rPr lang="en-US" sz="11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Rederived column vs L2 VCDtrop (product)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C66BD-F600-4AD8-974D-8C84BDB6F777}"/>
              </a:ext>
            </a:extLst>
          </p:cNvPr>
          <p:cNvSpPr/>
          <p:nvPr/>
        </p:nvSpPr>
        <p:spPr>
          <a:xfrm>
            <a:off x="2133599" y="8355612"/>
            <a:ext cx="2590800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4 · Background, anomaly, plume column</a:t>
            </a:r>
            <a:br>
              <a:rPr lang="en-US" sz="1050" dirty="0"/>
            </a:br>
            <a:r>
              <a:rPr lang="en-US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VCDbg, </a:t>
            </a:r>
            <a:r>
              <a:rPr lang="el-GR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Δ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VCD, </a:t>
            </a:r>
            <a:r>
              <a:rPr lang="el-GR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Δ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VCDplume = fp·</a:t>
            </a:r>
            <a:r>
              <a:rPr lang="el-GR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Δ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VCD</a:t>
            </a: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B7700E-A4C0-4AD0-96DD-6F329A9175F8}"/>
              </a:ext>
            </a:extLst>
          </p:cNvPr>
          <p:cNvSpPr/>
          <p:nvPr/>
        </p:nvSpPr>
        <p:spPr>
          <a:xfrm>
            <a:off x="2133599" y="9384744"/>
            <a:ext cx="2590800" cy="692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5 · Column to mass</a:t>
            </a:r>
            <a:br>
              <a:rPr lang="en-US" sz="1100" dirty="0"/>
            </a:br>
            <a:r>
              <a:rPr lang="en-US" sz="11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NO2 mass from ΔVCDplume, pixel area, NA, MNO2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594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230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Eaturu</dc:creator>
  <cp:lastModifiedBy>Aditya Eaturu</cp:lastModifiedBy>
  <cp:revision>5</cp:revision>
  <dcterms:created xsi:type="dcterms:W3CDTF">2026-04-22T18:15:50Z</dcterms:created>
  <dcterms:modified xsi:type="dcterms:W3CDTF">2026-04-22T21:17:46Z</dcterms:modified>
</cp:coreProperties>
</file>